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1965960"/>
            <a:ext cx="1920240" cy="54864"/>
          </a:xfrm>
          <a:prstGeom prst="rect">
            <a:avLst/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SPMT AI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 i="0">
                <a:solidFill>
                  <a:srgbClr val="BFE3E2"/>
                </a:solidFill>
                <a:latin typeface="Calibri"/>
              </a:rPr>
              <a:t>Automated maintenance-ticket classification, prioritisation
and service-provider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4A5A6A"/>
                </a:solidFill>
                <a:latin typeface="Calibri"/>
              </a:rPr>
              <a:t>A Python microservice powering the Smart Property Maintenance Tracker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581144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5262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Category classifier  •  8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084064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029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Priority detector   •  LOW / MEDIUM / HIGH / EMERGENCY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586984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53212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Provider matcher   •  weighted ranking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Goals &amp; approach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why an AI tier sits on top of the rules engine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Architecture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Node backend ↔ Python microservice, graceful fallback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ML task types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classification vs. ranking vs. deterministic scoring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Models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category classifier &amp; priority detector (TF-IDF + LinearSVC)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Training data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7,900+ labelled samples; generators and pipeline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API surface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/health, /classify, /auto-assign, /classify-assign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Provider matching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weighted scoring with emergency mode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Evaluation, setup &amp; next steps</a:t>
            </a:r>
            <a:r>
              <a:rPr sz="1700" b="0">
                <a:solidFill>
                  <a:srgbClr val="1E2833"/>
                </a:solidFill>
                <a:latin typeface="Calibri"/>
              </a:rPr>
              <a:t> — results, env vars,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Why an AI Service?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Tickets arrive as free text; routing decisions must be fast, consistent and repeatable.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Problem: </a:t>
            </a:r>
            <a:r>
              <a:rPr sz="1700" b="0">
                <a:solidFill>
                  <a:srgbClr val="1E2833"/>
                </a:solidFill>
                <a:latin typeface="Calibri"/>
              </a:rPr>
              <a:t>maintenance tickets are unstructured text with no fixed category vocabulary, so rules alone guess wrong.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/>
            </a:r>
            <a:r>
              <a:rPr sz="1700" b="0">
                <a:solidFill>
                  <a:srgbClr val="1E2833"/>
                </a:solidFill>
                <a:latin typeface="Calibri"/>
              </a:rPr>
              <a:t>Manual triage is slow, inconsistent, and does not scale across many properties.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/>
            </a:r>
            <a:r>
              <a:rPr sz="1700" b="0">
                <a:solidFill>
                  <a:srgbClr val="1E2833"/>
                </a:solidFill>
                <a:latin typeface="Calibri"/>
              </a:rPr>
              <a:t>Priority must come from severity signals (a leak vs. a gas leak), not just keyword hits.</a:t>
            </a:r>
          </a:p>
          <a:p>
            <a:pPr>
              <a:spcAft>
                <a:spcPts val="1100"/>
              </a:spcAft>
            </a:pPr>
            <a:r>
              <a:rPr sz="1700" b="1">
                <a:solidFill>
                  <a:srgbClr val="12A5A0"/>
                </a:solidFill>
                <a:latin typeface="Calibri"/>
              </a:rPr>
              <a:t>▪  </a:t>
            </a:r>
            <a:r>
              <a:rPr sz="1700" b="1">
                <a:solidFill>
                  <a:srgbClr val="1E2833"/>
                </a:solidFill>
                <a:latin typeface="Calibri"/>
              </a:rPr>
              <a:t>AI goals: </a:t>
            </a:r>
            <a:r>
              <a:rPr sz="1700" b="0">
                <a:solidFill>
                  <a:srgbClr val="1E2833"/>
                </a:solidFill>
                <a:latin typeface="Calibri"/>
              </a:rPr>
              <a:t>auto-classify category → auto-rank priority → auto-suggest the best provider → route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97296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Design principle: rules guarantee service, ML improves accuracy — every AI call degrades gracefully to a keyword fallback.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Architecture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HTTP in, ranked decision out — with a fallback path that keeps the app running.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108960" cy="137160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Node.js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BFE3E2"/>
                </a:solidFill>
                <a:latin typeface="Calibri"/>
              </a:rPr>
              <a:t>ticket created → PYTHON_AI_ENABLED → call Python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33172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2A5A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737360"/>
            <a:ext cx="6583680" cy="20116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82880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F2A43"/>
                </a:solidFill>
                <a:latin typeface="Calibri"/>
              </a:rPr>
              <a:t>FastAPI microservice  (127.0.0.1:8001)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1">
                <a:solidFill>
                  <a:srgbClr val="1E2833"/>
                </a:solidFill>
                <a:latin typeface="Calibri"/>
              </a:rPr>
              <a:t>/classify</a:t>
            </a:r>
            <a:r>
              <a:rPr sz="1300" b="0">
                <a:solidFill>
                  <a:srgbClr val="1E2833"/>
                </a:solidFill>
                <a:latin typeface="Calibri"/>
              </a:rPr>
              <a:t>  — category + priority + confidence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1">
                <a:solidFill>
                  <a:srgbClr val="1E2833"/>
                </a:solidFill>
                <a:latin typeface="Calibri"/>
              </a:rPr>
              <a:t>/auto-assign</a:t>
            </a:r>
            <a:r>
              <a:rPr sz="1300" b="0">
                <a:solidFill>
                  <a:srgbClr val="1E2833"/>
                </a:solidFill>
                <a:latin typeface="Calibri"/>
              </a:rPr>
              <a:t>  — score + rank candidates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1">
                <a:solidFill>
                  <a:srgbClr val="1E2833"/>
                </a:solidFill>
                <a:latin typeface="Calibri"/>
              </a:rPr>
              <a:t>/classify-assign</a:t>
            </a:r>
            <a:r>
              <a:rPr sz="1300" b="0">
                <a:solidFill>
                  <a:srgbClr val="1E2833"/>
                </a:solidFill>
                <a:latin typeface="Calibri"/>
              </a:rPr>
              <a:t>  — end-to-end: text →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2743200" cy="118872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114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models/*.joblib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498848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BFE3E2"/>
                </a:solidFill>
                <a:latin typeface="Calibri"/>
              </a:rPr>
              <a:t>category_model
priority_model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4023360"/>
            <a:ext cx="3017520" cy="1188720"/>
          </a:xfrm>
          <a:prstGeom prst="roundRect">
            <a:avLst>
              <a:gd name="adj" fmla="val 6000"/>
            </a:avLst>
          </a:prstGeom>
          <a:solidFill>
            <a:srgbClr val="E89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4114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Keyword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498848"/>
            <a:ext cx="2560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used when the model file is missing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77840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Two safety nets: (1) no trained model → keyword fallback in Python; (2) service down or disabled → existing backend keyword classifier — nothing breaks.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Kind of ML Tasks Are These?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Three different problems, three different modelling styles.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3611880" cy="8686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91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  Category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762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Multi-class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8 SPMT categories — one label per ticket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TF-IDF features (word n-grams 1–2)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LinearSVC + probability calibration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53712" y="16002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3712" y="1600200"/>
            <a:ext cx="3611880" cy="868680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691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2  Priority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1762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Multi-class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6974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LOW / MEDIUM / HIGH / EMERGENCY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TF-IDF features (n-grams 1–3)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Runs right after category detection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4" y="1600200"/>
            <a:ext cx="3611880" cy="416052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67344" y="1600200"/>
            <a:ext cx="3611880" cy="868680"/>
          </a:xfrm>
          <a:prstGeom prst="roundRect">
            <a:avLst>
              <a:gd name="adj" fmla="val 6000"/>
            </a:avLst>
          </a:prstGeom>
          <a:solidFill>
            <a:srgbClr val="E89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95944" y="16916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3  Provider 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5944" y="2176272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Ranking (deterministic)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2697480"/>
            <a:ext cx="3200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Not ML — weighted linear scoring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Hard spec filter + top-N sort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12A5A0"/>
                </a:solidFill>
                <a:latin typeface="Calibri"/>
              </a:rPr>
              <a:t>▪  </a:t>
            </a:r>
            <a:r>
              <a:rPr sz="1300" b="0">
                <a:solidFill>
                  <a:srgbClr val="1E2833"/>
                </a:solidFill>
                <a:latin typeface="Calibri"/>
              </a:rPr>
              <a:t>Weights shift for EMERGENCY tickets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Note: no regression and no clustering — every output is a discrete label or a ranked 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1 — Category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Maps free text to the right maintenance trade.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0">
                <a:solidFill>
                  <a:srgbClr val="1E2833"/>
                </a:solidFill>
                <a:latin typeface="Calibri"/>
              </a:rPr>
              <a:t>Classes (8): Plumbing, Electrical, HVAC, Appliances, Structural, Security, Landscaping, Pest Control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TF-IDF vectoriser: </a:t>
            </a:r>
            <a:r>
              <a:rPr sz="1600" b="0">
                <a:solidFill>
                  <a:srgbClr val="1E2833"/>
                </a:solidFill>
                <a:latin typeface="Calibri"/>
              </a:rPr>
              <a:t>lowercase, strip accents, word n-grams 1–2, sublinear term frequency, max 20,000 features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Classifier: </a:t>
            </a:r>
            <a:r>
              <a:rPr sz="1600" b="0">
                <a:solidFill>
                  <a:srgbClr val="1E2833"/>
                </a:solidFill>
                <a:latin typeface="Calibri"/>
              </a:rPr>
              <a:t>LinearSVC wrapped in CalibratedClassifierCV (3-fold) → calibrated confidence 0–1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Training data: </a:t>
            </a:r>
            <a:r>
              <a:rPr sz="1600" b="0">
                <a:solidFill>
                  <a:srgbClr val="1E2833"/>
                </a:solidFill>
                <a:latin typeface="Calibri"/>
              </a:rPr>
              <a:t>5,256 labelled samples (5,000 synthetic balanced at 625/category + 256 curated real descriptions)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0">
                <a:solidFill>
                  <a:srgbClr val="1E2833"/>
                </a:solidFill>
                <a:latin typeface="Calibri"/>
              </a:rPr>
              <a:t>Output: {category, confidence, method} on every /classify call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Low-confidence safety: </a:t>
            </a:r>
            <a:r>
              <a:rPr sz="1600" b="0">
                <a:solidFill>
                  <a:srgbClr val="1E2833"/>
                </a:solidFill>
                <a:latin typeface="Calibri"/>
              </a:rPr>
              <a:t>an “Other” prediction below 0.30 confidence is rejected (HTTP 422) instead of guessing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1500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Example: “Termites infestation in the ceiling” → category Pest Control (method: sklearn).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2 — Priority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Judges severity on a 4-point scale.  LOW / MEDIUM / HIGH / EMERGENCY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Two-layer design (emergency_detector.py): </a:t>
            </a:r>
            <a:r>
              <a:rPr sz="1600" b="0">
                <a:solidFill>
                  <a:srgbClr val="1E2833"/>
                </a:solidFill>
                <a:latin typeface="Calibri"/>
              </a:rPr>
              <a:t>trained priority_model.joblib when available, keyword heuristic otherwise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Rule overrides stay on top</a:t>
            </a:r>
            <a:r>
              <a:rPr sz="1600" b="0">
                <a:solidFill>
                  <a:srgbClr val="1E2833"/>
                </a:solidFill>
                <a:latin typeface="Calibri"/>
              </a:rPr>
              <a:t> — they never let a gas leak get downgraded: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0">
                <a:solidFill>
                  <a:srgbClr val="1E2833"/>
                </a:solidFill>
                <a:latin typeface="Calibri"/>
              </a:rPr>
              <a:t>   •  EMERGENCY keywords (gas leak, fire, flooding, burst pipe, exposed wires, collapse …) → escalate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0">
                <a:solidFill>
                  <a:srgbClr val="1E2833"/>
                </a:solidFill>
                <a:latin typeface="Calibri"/>
              </a:rPr>
              <a:t>   •  2× HIGH keywords (no power, broken window, unsafe wiring …) → escalate to EMERGENCY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0">
                <a:solidFill>
                  <a:srgbClr val="1E2833"/>
                </a:solidFill>
                <a:latin typeface="Calibri"/>
              </a:rPr>
              <a:t>   •  1× HIGH → HIGH;  ≥ 1 MEDIUM keyword → MEDIUM;  default → LOW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0">
                <a:solidFill>
                  <a:srgbClr val="1E2833"/>
                </a:solidFill>
                <a:latin typeface="Calibri"/>
              </a:rPr>
              <a:t>Output: {priority, confidence, matched}</a:t>
            </a:r>
          </a:p>
          <a:p>
            <a:pPr>
              <a:spcAft>
                <a:spcPts val="9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0">
                <a:solidFill>
                  <a:srgbClr val="1E2833"/>
                </a:solidFill>
                <a:latin typeface="Calibri"/>
              </a:rPr>
              <a:t>Example: “Gas leak + smoke in block C” → EMERGENCY (confidence 0.98)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Training Data &amp;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Synthetic data seeds the models; curated real data steers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5486400" cy="429768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F2A43"/>
                </a:solidFill>
                <a:latin typeface="Calibri"/>
              </a:rPr>
              <a:t>Where the labels come from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data_generator.py</a:t>
            </a:r>
            <a:r>
              <a:rPr sz="1400" b="0">
                <a:solidFill>
                  <a:srgbClr val="1E2833"/>
                </a:solidFill>
                <a:latin typeface="Calibri"/>
              </a:rPr>
              <a:t> — seeded synthetic tickets, keyword pools per category (625/category → 5,000)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priority_data_generator.py</a:t>
            </a:r>
            <a:r>
              <a:rPr sz="1400" b="0">
                <a:solidFill>
                  <a:srgbClr val="1E2833"/>
                </a:solidFill>
                <a:latin typeface="Calibri"/>
              </a:rPr>
              <a:t> — seeded severity tickets (default 2,500)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comprehend_training_data.csv</a:t>
            </a:r>
            <a:r>
              <a:rPr sz="1400" b="0">
                <a:solidFill>
                  <a:srgbClr val="1E2833"/>
                </a:solidFill>
                <a:latin typeface="Calibri"/>
              </a:rPr>
              <a:t> — 256 hand-curated real descriptions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priority_training_data_2.csv</a:t>
            </a:r>
            <a:r>
              <a:rPr sz="1400" b="0">
                <a:solidFill>
                  <a:srgbClr val="1E2833"/>
                </a:solidFill>
                <a:latin typeface="Calibri"/>
              </a:rPr>
              <a:t> — 200 extra labelled samples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human_tickets_test.csv</a:t>
            </a:r>
            <a:r>
              <a:rPr sz="1400" b="0">
                <a:solidFill>
                  <a:srgbClr val="1E2833"/>
                </a:solidFill>
                <a:latin typeface="Calibri"/>
              </a:rPr>
              <a:t> — 41 hand-written held-out test 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120640" cy="42976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train.py: </a:t>
            </a:r>
            <a:r>
              <a:rPr sz="1400" b="0">
                <a:solidFill>
                  <a:srgbClr val="1E2833"/>
                </a:solidFill>
                <a:latin typeface="Calibri"/>
              </a:rPr>
              <a:t>loads curated + synthetic CSVs, shuffles (seeded), fits, saves category_model.joblib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priority_train.py: </a:t>
            </a:r>
            <a:r>
              <a:rPr sz="1400" b="0">
                <a:solidFill>
                  <a:srgbClr val="1E2833"/>
                </a:solidFill>
                <a:latin typeface="Calibri"/>
              </a:rPr>
              <a:t>merges both priority CSVs, fits, saves priority_model.joblib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Ready: </a:t>
            </a:r>
            <a:r>
              <a:rPr sz="1400" b="0">
                <a:solidFill>
                  <a:srgbClr val="1E2833"/>
                </a:solidFill>
                <a:latin typeface="Calibri"/>
              </a:rPr>
              <a:t>7,900+ labelled rows — ~5,256 category / ~2,700 priority samples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Retraining: </a:t>
            </a:r>
            <a:r>
              <a:rPr sz="1400" b="0">
                <a:solidFill>
                  <a:srgbClr val="1E2833"/>
                </a:solidFill>
                <a:latin typeface="Calibri"/>
              </a:rPr>
              <a:t>swap a CSV with real tickets and re-run the same trainer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Held-out (human) set scored 0.54 with both the old 1,216-sample and the new 5,256-sample models — bigger data, no regression.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API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Exposed by FastAPI; consumed by the Node backend over HTTP.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194560"/>
                <a:gridCol w="3749039"/>
                <a:gridCol w="4023360"/>
              </a:tblGrid>
              <a:tr h="62179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91440" marR="91440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91440" marR="91440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Request</a:t>
                      </a:r>
                    </a:p>
                  </a:txBody>
                  <a:tcPr marL="91440" marR="91440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91440" marR="91440" marT="18288" marB="18288" anchor="ctr">
                    <a:solidFill>
                      <a:srgbClr val="0F2A43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/health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model status, categories, priorities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/classify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{ text }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{ category, confidence, method, priority }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/auto-assign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{ category, providers[], top_n, priority, coords }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ranked matches with sub-scores</a:t>
                      </a:r>
                    </a:p>
                  </a:txBody>
                  <a:tcPr marL="91440" marR="91440" marT="18288" marB="18288" anchor="ctr">
                    <a:solidFill>
                      <a:srgbClr val="EFF3F7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/classify-assign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{ text, providers[] }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{ classification, priority, match }</a:t>
                      </a:r>
                    </a:p>
                  </a:txBody>
                  <a:tcPr marL="91440" marR="9144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1208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Quality guard: /classify rejects “Other” below 0.30 confidence (HTTP 422) so a confident guess must win; /auto-assign validates the category and refuses unknown ones.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Inference &amp; Graceful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Every ML decision has a safe fallback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Model loading: </a:t>
            </a:r>
            <a:r>
              <a:rPr sz="1600" b="0">
                <a:solidFill>
                  <a:srgbClr val="1E2833"/>
                </a:solidFill>
                <a:latin typeface="Calibri"/>
              </a:rPr>
              <a:t>joblib files loaded once and cached in memory (classifier._model / _pmodel)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Confidence: </a:t>
            </a:r>
            <a:r>
              <a:rPr sz="1600" b="0">
                <a:solidFill>
                  <a:srgbClr val="1E2833"/>
                </a:solidFill>
                <a:latin typeface="Calibri"/>
              </a:rPr>
              <a:t>CalibratedClassifierCV supplies a calibrated probability for the winning class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Fallback 1 (no model file): </a:t>
            </a:r>
            <a:r>
              <a:rPr sz="1600" b="0">
                <a:solidFill>
                  <a:srgbClr val="1E2833"/>
                </a:solidFill>
                <a:latin typeface="Calibri"/>
              </a:rPr>
              <a:t>keyword scoring over category word-lists → {category, confidence ≥ 0.50}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Fallback 2 (priority): </a:t>
            </a:r>
            <a:r>
              <a:rPr sz="1600" b="0">
                <a:solidFill>
                  <a:srgbClr val="1E2833"/>
                </a:solidFill>
                <a:latin typeface="Calibri"/>
              </a:rPr>
              <a:t>EMERGENCY / HIGH / MEDIUM keyword tiers with fixed confidences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Service unavailable: </a:t>
            </a:r>
            <a:r>
              <a:rPr sz="1600" b="0">
                <a:solidFill>
                  <a:srgbClr val="1E2833"/>
                </a:solidFill>
                <a:latin typeface="Calibri"/>
              </a:rPr>
              <a:t>backend PYTHON_AI_ENABLED=false → existing Node keyword classifier, zero downtime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Health check: </a:t>
            </a:r>
            <a:r>
              <a:rPr sz="1600" b="0">
                <a:solidFill>
                  <a:srgbClr val="1E2833"/>
                </a:solidFill>
                <a:latin typeface="Calibri"/>
              </a:rPr>
              <a:t>GET /health reports model_loaded + priority_model_loaded for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Provider Assignment — Weighted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Not ML: a transparent, explainable scoring model.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645920"/>
                <a:gridCol w="603504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Factor</a:t>
                      </a:r>
                    </a:p>
                  </a:txBody>
                  <a:tcPr marL="73152" marR="73152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Emergency</a:t>
                      </a:r>
                    </a:p>
                  </a:txBody>
                  <a:tcPr marL="73152" marR="73152" marT="18288" marB="18288"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How it is computed</a:t>
                      </a:r>
                    </a:p>
                  </a:txBody>
                  <a:tcPr marL="73152" marR="73152" marT="18288" marB="18288" anchor="ctr">
                    <a:solidFill>
                      <a:srgbClr val="0F2A43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Specialisation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Hard filter; 1.0 if the provider covers the category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Rating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rating / max(rating) across candidates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Proximity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1 − distance / preferred_radius_km (haversine)</a:t>
                      </a:r>
                    </a:p>
                  </a:txBody>
                  <a:tcPr marL="73152" marR="73152" marT="18288" marB="18288" anchor="ctr">
                    <a:solidFill>
                      <a:srgbClr val="EFF3F7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Free capacity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0.25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1E2833"/>
                          </a:solidFill>
                          <a:latin typeface="Calibri"/>
                        </a:rPr>
                        <a:t>1 − workload / max(workload)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5029200"/>
            <a:ext cx="11064240" cy="68580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102352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0F2A43"/>
                </a:solidFill>
                <a:latin typeface="Calibri"/>
              </a:rPr>
              <a:t>total_score = w_spec·spec + w_rating·rating + w_prox·proximity + w_work·capacity   →  sort desc, take top_n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Emergency mode re-weights so the nearest available specialist with spare capacity wins — speed beats star rating.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Evaluation &amp; Current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Measured where it matters: distributions, held-out samples, and behaviour.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Category model: </a:t>
            </a:r>
            <a:r>
              <a:rPr sz="1600" b="0">
                <a:solidFill>
                  <a:srgbClr val="1E2833"/>
                </a:solidFill>
                <a:latin typeface="Calibri"/>
              </a:rPr>
              <a:t>trained on 5,256 samples — all 8 classes balanced (625/category + 256 curated)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Priority model: </a:t>
            </a:r>
            <a:r>
              <a:rPr sz="1600" b="0">
                <a:solidFill>
                  <a:srgbClr val="1E2833"/>
                </a:solidFill>
                <a:latin typeface="Calibri"/>
              </a:rPr>
              <a:t>trained on 2,700 samples — in-sample sanity report confirms clean separation on the synthetic corpus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Held-out (human_tickets_test.csv, 41 lines): </a:t>
            </a:r>
            <a:r>
              <a:rPr sz="1600" b="0">
                <a:solidFill>
                  <a:srgbClr val="1E2833"/>
                </a:solidFill>
                <a:latin typeface="Calibri"/>
              </a:rPr>
              <a:t>0.54 accuracy, identical to the old 1,216-sample model — the +5k expansion did not regress generalisation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Known gap: </a:t>
            </a:r>
            <a:r>
              <a:rPr sz="1600" b="0">
                <a:solidFill>
                  <a:srgbClr val="1E2833"/>
                </a:solidFill>
                <a:latin typeface="Calibri"/>
              </a:rPr>
              <a:t>synthetic phrasing is templated vs. casual real language; the keyword fallback still catches real-world vocabulary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12A5A0"/>
                </a:solidFill>
                <a:latin typeface="Calibri"/>
              </a:rPr>
              <a:t>▪  </a:t>
            </a:r>
            <a:r>
              <a:rPr sz="1600" b="1">
                <a:solidFill>
                  <a:srgbClr val="1E2833"/>
                </a:solidFill>
                <a:latin typeface="Calibri"/>
              </a:rPr>
              <a:t>Behavioural checks: </a:t>
            </a:r>
            <a:r>
              <a:rPr sz="1600" b="0">
                <a:solidFill>
                  <a:srgbClr val="1E2833"/>
                </a:solidFill>
                <a:latin typeface="Calibri"/>
              </a:rPr>
              <a:t>gas-leak text → EMERGENCY; Pest-Control text → matched provider; unknown category → 422; no providers → []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0644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EF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Recommendation: enrich the generators with realistic, casual phrasing — data size alone will not close the synthetic–real gap.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515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Running &amp;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12A5A0"/>
                </a:solidFill>
                <a:latin typeface="Calibri"/>
              </a:rPr>
              <a:t>SPMT AI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8992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4A5A6A"/>
                </a:solidFill>
                <a:latin typeface="Calibri"/>
              </a:rPr>
              <a:t>Self-contained Python service; a couple of env vars switch it 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5394960" cy="4023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Bring-up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0">
                <a:solidFill>
                  <a:srgbClr val="1E2833"/>
                </a:solidFill>
                <a:latin typeface="Calibri"/>
              </a:rPr>
              <a:t>pip install -r requirements.txt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python -m app.train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category model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python -m app.priority_train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priority model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uvicorn app.main:app --port 8001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serve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GET /health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confirm models loaded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5212080" cy="402336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F2A43"/>
                </a:solidFill>
                <a:latin typeface="Calibri"/>
              </a:rPr>
              <a:t>Backend integration (.env)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402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PYTHON_AI_ENABLED=true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route classification to Python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PYTHON_AI_URL=http://127.0.0.1:8001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where to call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/api/ai/python/classify-assign/:ticketId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preview-only combined route</a:t>
            </a:r>
          </a:p>
          <a:p>
            <a:pPr>
              <a:spcAft>
                <a:spcPts val="900"/>
              </a:spcAft>
            </a:pPr>
            <a:r>
              <a:rPr sz="1400" b="1">
                <a:solidFill>
                  <a:srgbClr val="12A5A0"/>
                </a:solidFill>
                <a:latin typeface="Calibri"/>
              </a:rPr>
              <a:t>▪  </a:t>
            </a:r>
            <a:r>
              <a:rPr sz="1400" b="1">
                <a:solidFill>
                  <a:srgbClr val="1E2833"/>
                </a:solidFill>
                <a:latin typeface="Calibri"/>
              </a:rPr>
              <a:t>false or unreachable</a:t>
            </a:r>
            <a:r>
              <a:rPr sz="1400" b="0">
                <a:solidFill>
                  <a:srgbClr val="1E2833"/>
                </a:solidFill>
                <a:latin typeface="Calibri"/>
              </a:rPr>
              <a:t>  — revert to Node keyword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4A5A6A"/>
                </a:solidFill>
                <a:latin typeface="Calibri"/>
              </a:rPr>
              <a:t>Models live in ai-service/models/*.joblib and load lazily, so the service starts even before training runs.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5A6A"/>
                </a:solidFill>
                <a:latin typeface="Calibri"/>
              </a:rPr>
              <a:t>SPMT AI Service — Technical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4A5A6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47088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783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Category + priority: two multi-class classifiers (TF-IDF → calibrated LinearSVC)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60320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9631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Assignment: transparent weighted ranking with emergency re-weighting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73552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20954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Resilience: keyword fallbacks at both the Python and Node layers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986784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2277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Now: 7,900+ labelled samples; models retrained end-to-end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700016"/>
            <a:ext cx="164592" cy="164592"/>
          </a:xfrm>
          <a:prstGeom prst="roundRect">
            <a:avLst>
              <a:gd name="adj" fmla="val 6000"/>
            </a:avLst>
          </a:prstGeom>
          <a:solidFill>
            <a:srgbClr val="12A5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63600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Then: more realistic synthetic phrasing, a real-ticket data flywheel, learning-to-rank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2A5A0"/>
                </a:solidFill>
                <a:latin typeface="Calibri"/>
              </a:rPr>
              <a:t>SPMT AI Service  —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